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7"/>
  </p:handout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10018713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sh Singh" userId="0a2af357-a26d-4160-a1fb-16799b84ffe9" providerId="ADAL" clId="{01178276-E121-4826-80AB-BFEDC3311F6C}"/>
    <pc:docChg chg="custSel modSld">
      <pc:chgData name="Devesh Singh" userId="0a2af357-a26d-4160-a1fb-16799b84ffe9" providerId="ADAL" clId="{01178276-E121-4826-80AB-BFEDC3311F6C}" dt="2026-09-09T18:56:13.160" v="114"/>
      <pc:docMkLst>
        <pc:docMk/>
      </pc:docMkLst>
      <pc:sldChg chg="delSp modSp mod">
        <pc:chgData name="Devesh Singh" userId="0a2af357-a26d-4160-a1fb-16799b84ffe9" providerId="ADAL" clId="{01178276-E121-4826-80AB-BFEDC3311F6C}" dt="2026-09-09T18:56:13.160" v="114"/>
        <pc:sldMkLst>
          <pc:docMk/>
          <pc:sldMk cId="395416580" sldId="270"/>
        </pc:sldMkLst>
        <pc:spChg chg="del mod">
          <ac:chgData name="Devesh Singh" userId="0a2af357-a26d-4160-a1fb-16799b84ffe9" providerId="ADAL" clId="{01178276-E121-4826-80AB-BFEDC3311F6C}" dt="2026-09-09T18:56:13.160" v="114"/>
          <ac:spMkLst>
            <pc:docMk/>
            <pc:sldMk cId="395416580" sldId="270"/>
            <ac:spMk id="2061" creationId="{00000000-0000-0000-0000-000000000000}"/>
          </ac:spMkLst>
        </pc:spChg>
      </pc:sldChg>
      <pc:sldChg chg="delSp modSp mod">
        <pc:chgData name="Devesh Singh" userId="0a2af357-a26d-4160-a1fb-16799b84ffe9" providerId="ADAL" clId="{01178276-E121-4826-80AB-BFEDC3311F6C}" dt="2026-09-09T18:55:20.638" v="5" actId="478"/>
        <pc:sldMkLst>
          <pc:docMk/>
          <pc:sldMk cId="0" sldId="271"/>
        </pc:sldMkLst>
        <pc:spChg chg="del">
          <ac:chgData name="Devesh Singh" userId="0a2af357-a26d-4160-a1fb-16799b84ffe9" providerId="ADAL" clId="{01178276-E121-4826-80AB-BFEDC3311F6C}" dt="2026-09-09T18:55:17.258" v="3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Devesh Singh" userId="0a2af357-a26d-4160-a1fb-16799b84ffe9" providerId="ADAL" clId="{01178276-E121-4826-80AB-BFEDC3311F6C}" dt="2026-09-09T18:55:20.638" v="5" actId="478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Devesh Singh" userId="0a2af357-a26d-4160-a1fb-16799b84ffe9" providerId="ADAL" clId="{01178276-E121-4826-80AB-BFEDC3311F6C}" dt="2026-09-09T18:55:14.722" v="2" actId="478"/>
          <ac:spMkLst>
            <pc:docMk/>
            <pc:sldMk cId="0" sldId="271"/>
            <ac:spMk id="10" creationId="{00000000-0000-0000-0000-000000000000}"/>
          </ac:spMkLst>
        </pc:spChg>
        <pc:picChg chg="del">
          <ac:chgData name="Devesh Singh" userId="0a2af357-a26d-4160-a1fb-16799b84ffe9" providerId="ADAL" clId="{01178276-E121-4826-80AB-BFEDC3311F6C}" dt="2026-09-09T18:55:18.682" v="4" actId="478"/>
          <ac:picMkLst>
            <pc:docMk/>
            <pc:sldMk cId="0" sldId="271"/>
            <ac:picMk id="2" creationId="{00000000-0000-0000-0000-00000000000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74952" y="1"/>
            <a:ext cx="4341442" cy="345604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FA7296CB-8C24-4358-8F3D-4C3ECCCBF92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74952" y="6542560"/>
            <a:ext cx="4341442" cy="34560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72D2B5AE-2450-4079-A3BD-5E66D7303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13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00" y="300000"/>
            <a:ext cx="1150000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TextBox 2054"/>
          <p:cNvSpPr txBox="1"/>
          <p:nvPr/>
        </p:nvSpPr>
        <p:spPr>
          <a:xfrm>
            <a:off x="1950000" y="320000"/>
            <a:ext cx="9642000" cy="14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F2850"/>
                </a:solidFill>
                <a:latin typeface="Times New Roman"/>
              </a:rPr>
              <a:t>ABES ENGINEERING COLLEGE, GHAZIABAD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5AA8"/>
                </a:solidFill>
                <a:latin typeface="Times New Roman"/>
              </a:rPr>
              <a:t>Department of Information Technology</a:t>
            </a:r>
          </a:p>
          <a:p>
            <a:pPr algn="l"/>
            <a:r>
              <a:rPr sz="1200" b="0" i="0">
                <a:solidFill>
                  <a:srgbClr val="4B5F78"/>
                </a:solidFill>
                <a:latin typeface="Times New Roman"/>
              </a:rPr>
              <a:t>Bachelor of Technology  |  Major Project Review-2  |  Academic Session 2026–27</a:t>
            </a:r>
          </a:p>
        </p:txBody>
      </p:sp>
      <p:sp>
        <p:nvSpPr>
          <p:cNvPr id="2056" name="Rectangle 2055"/>
          <p:cNvSpPr/>
          <p:nvPr/>
        </p:nvSpPr>
        <p:spPr>
          <a:xfrm>
            <a:off x="600000" y="1920000"/>
            <a:ext cx="10992000" cy="30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Rounded Rectangle 2056"/>
          <p:cNvSpPr/>
          <p:nvPr/>
        </p:nvSpPr>
        <p:spPr>
          <a:xfrm>
            <a:off x="600000" y="2060000"/>
            <a:ext cx="10992000" cy="224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TextBox 2057"/>
          <p:cNvSpPr txBox="1"/>
          <p:nvPr/>
        </p:nvSpPr>
        <p:spPr>
          <a:xfrm>
            <a:off x="600000" y="2160000"/>
            <a:ext cx="10992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150" b="1" i="0">
                <a:solidFill>
                  <a:srgbClr val="D7AA32"/>
                </a:solidFill>
                <a:latin typeface="Times New Roman"/>
              </a:rPr>
              <a:t>PROJECT PRESENTATION  •  REVIEW-2  •  BCS 753</a:t>
            </a:r>
          </a:p>
        </p:txBody>
      </p:sp>
      <p:sp>
        <p:nvSpPr>
          <p:cNvPr id="2059" name="TextBox 2058"/>
          <p:cNvSpPr txBox="1"/>
          <p:nvPr/>
        </p:nvSpPr>
        <p:spPr>
          <a:xfrm>
            <a:off x="600000" y="2460000"/>
            <a:ext cx="10992000" cy="7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Times New Roman"/>
              </a:rPr>
              <a:t>AGRISENSE</a:t>
            </a:r>
          </a:p>
        </p:txBody>
      </p:sp>
      <p:sp>
        <p:nvSpPr>
          <p:cNvPr id="2060" name="TextBox 2059"/>
          <p:cNvSpPr txBox="1"/>
          <p:nvPr/>
        </p:nvSpPr>
        <p:spPr>
          <a:xfrm>
            <a:off x="600000" y="3260000"/>
            <a:ext cx="10992000" cy="42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2000" b="1" i="0">
                <a:solidFill>
                  <a:srgbClr val="A0D2FA"/>
                </a:solidFill>
                <a:latin typeface="Times New Roman"/>
              </a:rPr>
              <a:t>Precision Agriculture Crop Yield &amp; Pest Risk Intelligence</a:t>
            </a:r>
          </a:p>
        </p:txBody>
      </p:sp>
      <p:sp>
        <p:nvSpPr>
          <p:cNvPr id="2061" name="TextBox 2060"/>
          <p:cNvSpPr txBox="1"/>
          <p:nvPr/>
        </p:nvSpPr>
        <p:spPr>
          <a:xfrm>
            <a:off x="600000" y="3760000"/>
            <a:ext cx="10992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200" b="0" i="1">
                <a:solidFill>
                  <a:srgbClr val="D7E6FA"/>
                </a:solidFill>
                <a:latin typeface="Times New Roman"/>
              </a:rPr>
              <a:t>Multimodal Sensor Fusion  •  LightGBM Yield Prediction  •  Random Forest Pest Risk  •  GIS Decision Support</a:t>
            </a:r>
          </a:p>
        </p:txBody>
      </p:sp>
      <p:sp>
        <p:nvSpPr>
          <p:cNvPr id="2062" name="Rounded Rectangle 2061"/>
          <p:cNvSpPr/>
          <p:nvPr/>
        </p:nvSpPr>
        <p:spPr>
          <a:xfrm>
            <a:off x="600000" y="4450000"/>
            <a:ext cx="5346000" cy="18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 rIns="109728" bIns="91440"/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5AA8"/>
                </a:solidFill>
                <a:latin typeface="Times New Roman"/>
              </a:rPr>
              <a:t>GUIDED BY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F2850"/>
                </a:solidFill>
                <a:latin typeface="Times New Roman"/>
              </a:rPr>
              <a:t>Prof. Ayush Agarwal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41E2D"/>
                </a:solidFill>
                <a:latin typeface="Times New Roman"/>
              </a:rPr>
              <a:t>Assistant Professor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41E2D"/>
                </a:solidFill>
                <a:latin typeface="Times New Roman"/>
              </a:rPr>
              <a:t>Department of Information Technology</a:t>
            </a:r>
          </a:p>
          <a:p>
            <a:pPr algn="l"/>
            <a:r>
              <a:rPr sz="1150" b="0" i="0">
                <a:solidFill>
                  <a:srgbClr val="4B5F78"/>
                </a:solidFill>
                <a:latin typeface="Times New Roman"/>
              </a:rPr>
              <a:t>ABES Engineering College, Ghaziabad</a:t>
            </a:r>
          </a:p>
        </p:txBody>
      </p:sp>
      <p:sp>
        <p:nvSpPr>
          <p:cNvPr id="2063" name="Rounded Rectangle 2062"/>
          <p:cNvSpPr/>
          <p:nvPr/>
        </p:nvSpPr>
        <p:spPr>
          <a:xfrm>
            <a:off x="6246000" y="4450000"/>
            <a:ext cx="5346000" cy="18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 rIns="109728" bIns="91440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5AA8"/>
                </a:solidFill>
                <a:latin typeface="Times New Roman"/>
              </a:rPr>
              <a:t>PROJECT TEAM MEMBERS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2850"/>
                </a:solidFill>
                <a:latin typeface="Times New Roman"/>
              </a:rPr>
              <a:t>Harish Kumar  </a:t>
            </a:r>
            <a:r>
              <a:rPr sz="1150">
                <a:solidFill>
                  <a:srgbClr val="4B5F78"/>
                </a:solidFill>
                <a:latin typeface="Times New Roman"/>
              </a:rPr>
              <a:t>(Roll No: 2300320310086)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2850"/>
                </a:solidFill>
                <a:latin typeface="Times New Roman"/>
              </a:rPr>
              <a:t>Devesh Singh  </a:t>
            </a:r>
            <a:r>
              <a:rPr sz="1150">
                <a:solidFill>
                  <a:srgbClr val="4B5F78"/>
                </a:solidFill>
                <a:latin typeface="Times New Roman"/>
              </a:rPr>
              <a:t>(Roll No: 2300320130088)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2850"/>
                </a:solidFill>
                <a:latin typeface="Times New Roman"/>
              </a:rPr>
              <a:t>Divyanshu Kumar Rai  </a:t>
            </a:r>
            <a:r>
              <a:rPr sz="1150">
                <a:solidFill>
                  <a:srgbClr val="4B5F78"/>
                </a:solidFill>
                <a:latin typeface="Times New Roman"/>
              </a:rPr>
              <a:t>(Roll No: 2300320130100)</a:t>
            </a:r>
          </a:p>
        </p:txBody>
      </p:sp>
      <p:sp>
        <p:nvSpPr>
          <p:cNvPr id="2064" name="Rectangle 2063"/>
          <p:cNvSpPr/>
          <p:nvPr/>
        </p:nvSpPr>
        <p:spPr>
          <a:xfrm>
            <a:off x="0" y="6400000"/>
            <a:ext cx="12192000" cy="4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rIns="109728" bIns="91440"/>
          <a:lstStyle/>
          <a:p>
            <a:pPr algn="ctr"/>
            <a:r>
              <a:rPr sz="1100" b="0" i="0">
                <a:solidFill>
                  <a:srgbClr val="B4D7FA"/>
                </a:solidFill>
                <a:latin typeface="Times New Roman"/>
              </a:rPr>
              <a:t>ABES Engineering College, Ghaziabad, Uttar Pradesh  |  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9541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Contents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Presentation Roadmap &amp; Scope of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8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01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Problem Statement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Research gaps, single-modality limits &amp; multi-task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211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02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Project Objectives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5 core technical objectives across fusion, ML &amp; GIS advisory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294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03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Updated Methodology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End-to-end 6-phase multimodal data &amp; predictive ML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377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04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System Architecture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4-tier layered architecture: Client, Application, ML,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460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05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Dataset &amp; Experimental Setup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6 modalities, spatiotemporal features, zero-leakage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43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06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Implementation Progress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Completed features, modules in progress &amp; planned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6000" y="128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07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Working Demonstration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Actual AgriSense UI output screens &amp; operational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6000" y="211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08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Preliminary Results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Table II benchmarks: LightGBM (R²=0.93) &amp; RF (Acc=91%)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294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09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Research Paper Submission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IEEE manuscript status, metadata &amp; architectural contributions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6000" y="377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10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Remaining Work &amp; Roadmap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5-stage phased roadmap through to final project defense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6000" y="460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11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Challenges &amp; Solutions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Data heterogeneity, spatial leakage, vernacular AI &amp; API quotas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6000" y="5430000"/>
            <a:ext cx="5346000" cy="7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12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References</a:t>
            </a:r>
          </a:p>
          <a:p>
            <a:r>
              <a:rPr sz="1050">
                <a:solidFill>
                  <a:srgbClr val="4B5F78"/>
                </a:solidFill>
                <a:latin typeface="Times New Roman"/>
              </a:rPr>
              <a:t>       13 IEEE research paper citations strictly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Problem Statement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Critical Research Gaps in Precision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5346000" cy="16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91440" rIns="109728" bIns="91440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F2850"/>
                </a:solidFill>
                <a:latin typeface="Times New Roman"/>
              </a:rPr>
              <a:t>1. Single-Modality Limitations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B97314"/>
                </a:solidFill>
                <a:latin typeface="Times New Roman"/>
              </a:rPr>
              <a:t>• Problem: </a:t>
            </a:r>
            <a:r>
              <a:rPr sz="950">
                <a:solidFill>
                  <a:srgbClr val="141E2D"/>
                </a:solidFill>
                <a:latin typeface="Times New Roman"/>
              </a:rPr>
              <a:t>Ingestion pipelines rely solely on isolated weather records or historical yield tables, ignoring soil chemistry and Sentinel-2 NDVI/EVI.</a:t>
            </a:r>
          </a:p>
          <a:p>
            <a:r>
              <a:rPr sz="1000" b="1">
                <a:solidFill>
                  <a:srgbClr val="1E5AA8"/>
                </a:solidFill>
                <a:latin typeface="Times New Roman"/>
              </a:rPr>
              <a:t>• Consequence: </a:t>
            </a:r>
            <a:r>
              <a:rPr sz="950">
                <a:solidFill>
                  <a:srgbClr val="141E2D"/>
                </a:solidFill>
                <a:latin typeface="Times New Roman"/>
              </a:rPr>
              <a:t>Inability to capture micro-climate soil-plant interactions produces high prediction variance across regional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6000" y="1260000"/>
            <a:ext cx="5346000" cy="16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91440" rIns="109728" bIns="91440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F2850"/>
                </a:solidFill>
                <a:latin typeface="Times New Roman"/>
              </a:rPr>
              <a:t>2. Micro-Climate Blind Spots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B97314"/>
                </a:solidFill>
                <a:latin typeface="Times New Roman"/>
              </a:rPr>
              <a:t>• Problem: </a:t>
            </a:r>
            <a:r>
              <a:rPr sz="950">
                <a:solidFill>
                  <a:srgbClr val="141E2D"/>
                </a:solidFill>
                <a:latin typeface="Times New Roman"/>
              </a:rPr>
              <a:t>Macro-level district aggregations mask farm-scale moisture deficits, canopy heat stress, and sudden localized weather shifts.</a:t>
            </a:r>
          </a:p>
          <a:p>
            <a:r>
              <a:rPr sz="1000" b="1">
                <a:solidFill>
                  <a:srgbClr val="1E5AA8"/>
                </a:solidFill>
                <a:latin typeface="Times New Roman"/>
              </a:rPr>
              <a:t>• Consequence: </a:t>
            </a:r>
            <a:r>
              <a:rPr sz="950">
                <a:solidFill>
                  <a:srgbClr val="141E2D"/>
                </a:solidFill>
                <a:latin typeface="Times New Roman"/>
              </a:rPr>
              <a:t>Coarse spatial resolutions obscure localized Growing Degree Day (GDD) accumulation critical for precision agronomy.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2970000"/>
            <a:ext cx="5346000" cy="16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91440" rIns="109728" bIns="91440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F2850"/>
                </a:solidFill>
                <a:latin typeface="Times New Roman"/>
              </a:rPr>
              <a:t>3. Disconnected Prediction Tasks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B97314"/>
                </a:solidFill>
                <a:latin typeface="Times New Roman"/>
              </a:rPr>
              <a:t>• Problem: </a:t>
            </a:r>
            <a:r>
              <a:rPr sz="950">
                <a:solidFill>
                  <a:srgbClr val="141E2D"/>
                </a:solidFill>
                <a:latin typeface="Times New Roman"/>
              </a:rPr>
              <a:t>Yield estimation and pest/disease outbreak forecasting are universally executed as isolated, disjoint pipelines.</a:t>
            </a:r>
          </a:p>
          <a:p>
            <a:r>
              <a:rPr sz="1000" b="1">
                <a:solidFill>
                  <a:srgbClr val="1E5AA8"/>
                </a:solidFill>
                <a:latin typeface="Times New Roman"/>
              </a:rPr>
              <a:t>• Consequence: </a:t>
            </a:r>
            <a:r>
              <a:rPr sz="950">
                <a:solidFill>
                  <a:srgbClr val="141E2D"/>
                </a:solidFill>
                <a:latin typeface="Times New Roman"/>
              </a:rPr>
              <a:t>Fails to account for biological yield degradation caused by pest outbreaks, causing redundant processing and conflicting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000" y="2970000"/>
            <a:ext cx="5346000" cy="16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91440" rIns="109728" bIns="91440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F2850"/>
                </a:solidFill>
                <a:latin typeface="Times New Roman"/>
              </a:rPr>
              <a:t>4. Low Field-Level Actionability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B97314"/>
                </a:solidFill>
                <a:latin typeface="Times New Roman"/>
              </a:rPr>
              <a:t>• Problem: </a:t>
            </a:r>
            <a:r>
              <a:rPr sz="950">
                <a:solidFill>
                  <a:srgbClr val="141E2D"/>
                </a:solidFill>
                <a:latin typeface="Times New Roman"/>
              </a:rPr>
              <a:t>Complex tabular ML models remain locked in research papers, inaccessible to smallholder farmers.</a:t>
            </a:r>
          </a:p>
          <a:p>
            <a:r>
              <a:rPr sz="1000" b="1">
                <a:solidFill>
                  <a:srgbClr val="1E5AA8"/>
                </a:solidFill>
                <a:latin typeface="Times New Roman"/>
              </a:rPr>
              <a:t>• Consequence: </a:t>
            </a:r>
            <a:r>
              <a:rPr sz="950">
                <a:solidFill>
                  <a:srgbClr val="141E2D"/>
                </a:solidFill>
                <a:latin typeface="Times New Roman"/>
              </a:rPr>
              <a:t>Farmers lack spatial GIS maps, vernacular voice assistance, real-time APMC Mandi valuation, and officer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4680000"/>
            <a:ext cx="10992000" cy="88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09728" bIns="91440"/>
          <a:lstStyle/>
          <a:p>
            <a:pPr algn="ctr"/>
            <a:r>
              <a:rPr sz="1200" b="1">
                <a:solidFill>
                  <a:srgbClr val="D7AA32"/>
                </a:solidFill>
                <a:latin typeface="Times New Roman"/>
              </a:rPr>
              <a:t>AgriSense Research Gap Addressed:  </a:t>
            </a:r>
            <a:r>
              <a:rPr sz="1050">
                <a:solidFill>
                  <a:srgbClr val="E6F0FF"/>
                </a:solidFill>
                <a:latin typeface="Times New Roman"/>
              </a:rPr>
              <a:t>A unified multimodal fusion architecture coupling LightGBM yield regression (R²=0.93) with Random Forest pest classification (Accuracy=91%) into an actionable Leaflet GIS spatial advisory with bilingual voice assistance for smallholder farmers.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Project Objectives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Core Technical Aims &amp; Research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10992000" cy="86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01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Unified Multimodal Data Fusion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• Ingestion Pipeline: Synthesizes 6 heterogeneous data streams (weather, soil chemistry, Sentinel-2 NDVI, terrain elevation, crop metadata, coordinates).</a:t>
            </a:r>
          </a:p>
          <a:p>
            <a:r>
              <a:rPr sz="950">
                <a:solidFill>
                  <a:srgbClr val="141E2D"/>
                </a:solidFill>
                <a:latin typeface="Times New Roman"/>
              </a:rPr>
              <a:t>• Alignment Strategy: Implements daily spatiotemporal grid interpolation, forward-fill imputation, and variance thresholding.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2240000"/>
            <a:ext cx="10992000" cy="86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27D4B"/>
                </a:solidFill>
                <a:latin typeface="Times New Roman"/>
              </a:rPr>
              <a:t>02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Crop-Yield Prediction via LightGBM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• Predictive Regressor: High-precision gradient-boosted decision trees with leaf-wise splitting on continuous features.</a:t>
            </a:r>
          </a:p>
          <a:p>
            <a:r>
              <a:rPr sz="950">
                <a:solidFill>
                  <a:srgbClr val="141E2D"/>
                </a:solidFill>
                <a:latin typeface="Times New Roman"/>
              </a:rPr>
              <a:t>• Benchmarked Accuracy: Achieves R² = 0.93, MAE = 0.27, RMSE = 0.38, outperforming Random Forest, XGBoost, and Linear 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3220000"/>
            <a:ext cx="10992000" cy="86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03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Pest &amp; Disease Risk Classification via Random Forest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• Multi-Class Classifier: Ensemble bagging resilient to noisy micro-climatic humidity, leaf wetness, and rainfall telemetry.</a:t>
            </a:r>
          </a:p>
          <a:p>
            <a:r>
              <a:rPr sz="950">
                <a:solidFill>
                  <a:srgbClr val="141E2D"/>
                </a:solidFill>
                <a:latin typeface="Times New Roman"/>
              </a:rPr>
              <a:t>• Benchmarked Accuracy: Achieves Accuracy = 91%, Precision = 90%, F1 = 0.89 across localized severity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4200000"/>
            <a:ext cx="10992000" cy="86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27D4B"/>
                </a:solidFill>
                <a:latin typeface="Times New Roman"/>
              </a:rPr>
              <a:t>04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GDD-Based Agronomic Feature Engineering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• Phenological Modeling: Computes cumulative Growing Degree Days (GDD) to track biological crop maturation milestones.</a:t>
            </a:r>
          </a:p>
          <a:p>
            <a:r>
              <a:rPr sz="950">
                <a:solidFill>
                  <a:srgbClr val="141E2D"/>
                </a:solidFill>
                <a:latin typeface="Times New Roman"/>
              </a:rPr>
              <a:t>• Temporal Indices: Integrates 15-day smoothed NDVI/EVI trajectories and 30-day precipitation aggregates for thermal stress capture.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5180000"/>
            <a:ext cx="10992000" cy="86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09728" bIns="9144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5AA8"/>
                </a:solidFill>
                <a:latin typeface="Times New Roman"/>
              </a:rPr>
              <a:t>05  </a:t>
            </a:r>
            <a:r>
              <a:rPr sz="1300" b="1">
                <a:solidFill>
                  <a:srgbClr val="0F2850"/>
                </a:solidFill>
                <a:latin typeface="Times New Roman"/>
              </a:rPr>
              <a:t>GIS-Linked Farmer &amp; Officer Decision Support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• Interactive GIS &amp; Voice: Leaflet mapping canvas, bilingual voice AI (Web Speech + Gemini), and Krishi Kendra locator.</a:t>
            </a:r>
          </a:p>
          <a:p>
            <a:r>
              <a:rPr sz="950">
                <a:solidFill>
                  <a:srgbClr val="141E2D"/>
                </a:solidFill>
                <a:latin typeface="Times New Roman"/>
              </a:rPr>
              <a:t>• Market &amp; Escalation: Real-time APMC Mandi revenue simulator (₹3.8 Lakhs) and direct Zonal Officer ticket escalation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Updated Methodology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End-to-End Multimodal Data Engineering &amp; Dual Predictive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2520000" cy="190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5AA8"/>
                </a:solidFill>
                <a:latin typeface="Times New Roman"/>
              </a:rPr>
              <a:t>PHASE 1: DATA SOURCES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Weather: Hourly Temp &amp; Rain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Soil: pH, N-P-K Chemistry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Satellite: Sentinel-2 NDVI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Terrain: Elevation &amp; Slope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Crop Metadata: Sowing Dates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Coordinates: Farm Lat/Long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60000" y="2120000"/>
            <a:ext cx="220000" cy="180000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000" y="1260000"/>
            <a:ext cx="2520000" cy="19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2850"/>
                </a:solidFill>
                <a:latin typeface="Times New Roman"/>
              </a:rPr>
              <a:t>PHASE 2: PREPROCESSING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Imputation: KNN &amp; Forward-Fill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Outliers: Z-Score &amp; IQR Clipping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Scaling: Robust &amp; Min-Max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Spatiotemporal Alignment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Cloud-Masking Band QA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Geocoding Polygon Indexes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0000" y="2120000"/>
            <a:ext cx="220000" cy="180000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0000" y="1260000"/>
            <a:ext cx="2520000" cy="190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7D4B"/>
                </a:solidFill>
                <a:latin typeface="Times New Roman"/>
              </a:rPr>
              <a:t>PHASE 3: FEATURE ENG.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GDD Degree Day Milestones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15-Day NDVI Spectral Curves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30-Day Precipitation Totals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Canopy Thermal Stress Index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Variance Threshold Filtering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Multicollinearity VIF Screen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00000" y="2120000"/>
            <a:ext cx="220000" cy="180000"/>
          </a:xfrm>
          <a:prstGeom prst="right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60000" y="1260000"/>
            <a:ext cx="2520000" cy="19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2850"/>
                </a:solidFill>
                <a:latin typeface="Times New Roman"/>
              </a:rPr>
              <a:t>PHASE 4: MULTIMODAL FUSION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Dense Vector Concatenation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Blocked Spatial Grouping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Historical Temporal Splits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Strict Zero-Leakage Protocol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Dimensional Synchronization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141E2D"/>
                </a:solidFill>
                <a:latin typeface="Times New Roman"/>
              </a:rPr>
              <a:t>• Missing Sensor Mask Impute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230000" y="3180000"/>
            <a:ext cx="180000" cy="160000"/>
          </a:xfrm>
          <a:prstGeom prst="downArrow">
            <a:avLst/>
          </a:prstGeom>
          <a:solidFill>
            <a:srgbClr val="22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000" y="3360000"/>
            <a:ext cx="3400000" cy="210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09728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7D4B"/>
                </a:solidFill>
                <a:latin typeface="Times New Roman"/>
              </a:rPr>
              <a:t>DUAL ML: YIELD PREDICTION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850"/>
                </a:solidFill>
                <a:latin typeface="Times New Roman"/>
              </a:rPr>
              <a:t>LightGBM Regressor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27D4B"/>
                </a:solidFill>
                <a:latin typeface="Times New Roman"/>
              </a:rPr>
              <a:t>• Empirical Metrics: R² = 0.93 | MAE = 0.27 | RMSE = 0.38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• Gradient-boosted leaf-wise tree splitting on continuous multimodal feature vectors.</a:t>
            </a:r>
          </a:p>
          <a:p>
            <a:pPr algn="l"/>
            <a:r>
              <a:rPr sz="900" b="0" i="0">
                <a:solidFill>
                  <a:srgbClr val="141E2D"/>
                </a:solidFill>
                <a:latin typeface="Times New Roman"/>
              </a:rPr>
              <a:t>• Outperforms Random Forest (R²=0.83) &amp; Linear Regression (R²=0.68) baselines.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0000" y="3360000"/>
            <a:ext cx="3400000" cy="210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09728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E5AA8"/>
                </a:solidFill>
                <a:latin typeface="Times New Roman"/>
              </a:rPr>
              <a:t>DUAL ML: PEST &amp; DISEASE RISK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2850"/>
                </a:solidFill>
                <a:latin typeface="Times New Roman"/>
              </a:rPr>
              <a:t>Random Forest Classifier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E5AA8"/>
                </a:solidFill>
                <a:latin typeface="Times New Roman"/>
              </a:rPr>
              <a:t>• Empirical Metrics: Accuracy = 91% | Prec = 90% | F1 = 0.89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• Ensemble bagging of 300 estimators resilient against noisy field micro-climate sensor telemetry.</a:t>
            </a:r>
          </a:p>
          <a:p>
            <a:pPr algn="l"/>
            <a:r>
              <a:rPr sz="900" b="0" i="0">
                <a:solidFill>
                  <a:srgbClr val="141E2D"/>
                </a:solidFill>
                <a:latin typeface="Times New Roman"/>
              </a:rPr>
              <a:t>• 3-tier severity classification: Low, Medium, and High outbreak vulnerability.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10000" y="4320000"/>
            <a:ext cx="200000" cy="180000"/>
          </a:xfrm>
          <a:prstGeom prst="rightArrow">
            <a:avLst/>
          </a:prstGeom>
          <a:solidFill>
            <a:srgbClr val="22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40000" y="3360000"/>
            <a:ext cx="3752000" cy="21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09728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F2850"/>
                </a:solidFill>
                <a:latin typeface="Times New Roman"/>
              </a:rPr>
              <a:t>DECISION SUPPORT &amp; GIS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5AA8"/>
                </a:solidFill>
                <a:latin typeface="Times New Roman"/>
              </a:rPr>
              <a:t>Actionable Farmer &amp; Officer Hub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• Leaflet Geospatial Interactive Map &amp; Field Pins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97314"/>
                </a:solidFill>
                <a:latin typeface="Times New Roman"/>
              </a:rPr>
              <a:t>• 87% Predicted Outbreak Probability Alerts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7D4B"/>
                </a:solidFill>
                <a:latin typeface="Times New Roman"/>
              </a:rPr>
              <a:t>• Mandi APMC Revenue Engine (₹3.8 Lakhs Valuation)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• Bilingual Voice AI Advisory (Web Speech + Gemini)</a:t>
            </a:r>
          </a:p>
          <a:p>
            <a:pPr algn="l"/>
            <a:r>
              <a:rPr sz="900" b="0" i="0">
                <a:solidFill>
                  <a:srgbClr val="141E2D"/>
                </a:solidFill>
                <a:latin typeface="Times New Roman"/>
              </a:rPr>
              <a:t>• Krishi Seva Kendra Locator &amp; Officer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000" y="5570000"/>
            <a:ext cx="10992000" cy="58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109728" bIns="91440"/>
          <a:lstStyle/>
          <a:p>
            <a:pPr algn="ctr"/>
            <a:r>
              <a:rPr sz="1050" b="1">
                <a:solidFill>
                  <a:srgbClr val="D7AA32"/>
                </a:solidFill>
                <a:latin typeface="Times New Roman"/>
              </a:rPr>
              <a:t>Fig. 1: AgriSense Multimodal Feature Fusion &amp; Dual Predictive Pipeline (IEEE Research Paper, 2026)
</a:t>
            </a:r>
            <a:r>
              <a:rPr sz="900">
                <a:solidFill>
                  <a:srgbClr val="DCEBFF"/>
                </a:solidFill>
                <a:latin typeface="Times New Roman"/>
              </a:rPr>
              <a:t>Ingests 6 raw agronomic data streams  →  Spatiotemporal alignment &amp; GDD engineering  →  Zero-leakage split  →  Dual LightGBM &amp; RF inference  →  Interactive GIS field interventions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System Architecture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4-Tier Modular Engineering &amp; Integrated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7400000" cy="108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LAYER 1: CLIENT / PRESENTATION LAYER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E5AA8"/>
                </a:solidFill>
                <a:latin typeface="Times New Roman"/>
              </a:rPr>
              <a:t>React 18  •  TypeScript  •  TailwindCSS  •  Leaflet GIS  •  Web Speech API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Responsive farmer-facing portal, interactive GIS mapping canvas with regional Krishi Kendra locators, real-time telemetry dashboards, APMC mandi valuation calculator, and speech-based bilingual voice assistant.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10000" y="2360000"/>
            <a:ext cx="180000" cy="160000"/>
          </a:xfrm>
          <a:prstGeom prst="down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000" y="2540000"/>
            <a:ext cx="7400000" cy="108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LAYER 2: APPLICATION &amp; COMMUNICATION LAYER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E5AA8"/>
                </a:solidFill>
                <a:latin typeface="Times New Roman"/>
              </a:rPr>
              <a:t>Node.js  •  Express.js REST APIs  •  Socket.io Real-Time  •  JWT Security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Secure API gateway, biometric/JWT authentication, live geospatial query routing, real-time telemetry streaming, officer escalation queue manager, and in-memory rate-limiting cache.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10000" y="3640000"/>
            <a:ext cx="180000" cy="160000"/>
          </a:xfrm>
          <a:prstGeom prst="down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0000" y="3820000"/>
            <a:ext cx="7400000" cy="108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LAYER 3: PREDICTIVE ML &amp; GENERATIVE AI LAYER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E5AA8"/>
                </a:solidFill>
                <a:latin typeface="Times New Roman"/>
              </a:rPr>
              <a:t>LightGBM Regression  •  Random Forest Classifier  •  Gemini AI  •  HuggingFace Vision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Dual-model inference pipeline: LightGBM for crop yield estimation (R²=0.93), Random Forest for pest-risk categorization (Acc=91%), Google Gemini AI for contextual vernacular advice, and HuggingFace for leaf disease detection.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210000" y="4920000"/>
            <a:ext cx="180000" cy="160000"/>
          </a:xfrm>
          <a:prstGeom prst="downArrow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000" y="5100000"/>
            <a:ext cx="7400000" cy="108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LAYER 4: DATA PERSISTENCE &amp; EXTERNAL SERVICES LAYER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E5AA8"/>
                </a:solidFill>
                <a:latin typeface="Times New Roman"/>
              </a:rPr>
              <a:t>MongoDB Atlas  •  OpenWeatherMap Telemetry  •  Satellite Earth Engine  •  APMC Mandi API</a:t>
            </a:r>
          </a:p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Cloud NoSQL document store for farmer telemetry, geospatial indexes for field boundary polygons, automated external weather telemetry sync, and APMC daily mandi price ingestion.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0000" y="1260000"/>
            <a:ext cx="3342000" cy="492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09728" rIns="109728" bIns="91440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7AA32"/>
                </a:solidFill>
                <a:latin typeface="Times New Roman"/>
              </a:rPr>
              <a:t>VERIFIED TECH STACK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50" b="1" i="0">
                <a:solidFill>
                  <a:srgbClr val="A0D2FF"/>
                </a:solidFill>
                <a:latin typeface="Times New Roman"/>
              </a:rPr>
              <a:t>Client &amp; GIS Canvas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E6F0FF"/>
                </a:solidFill>
                <a:latin typeface="Times New Roman"/>
              </a:rPr>
              <a:t>• React 18 &amp; TypeScript
• TailwindCSS &amp; Lucide Icons
• Leaflet.js Field GIS Canvas
• Web Speech Voice Audio API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50" b="1" i="0">
                <a:solidFill>
                  <a:srgbClr val="A0D2FF"/>
                </a:solidFill>
                <a:latin typeface="Times New Roman"/>
              </a:rPr>
              <a:t>Backend &amp; APIs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E6F0FF"/>
                </a:solidFill>
                <a:latin typeface="Times New Roman"/>
              </a:rPr>
              <a:t>• Node.js &amp; Express.js REST
• Socket.io Live Telemetry
• JWT Token Authorization
• In-Memory Fast Cache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50" b="1" i="0">
                <a:solidFill>
                  <a:srgbClr val="A0D2FF"/>
                </a:solidFill>
                <a:latin typeface="Times New Roman"/>
              </a:rPr>
              <a:t>Predictive ML &amp; GenAI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E6F0FF"/>
                </a:solidFill>
                <a:latin typeface="Times New Roman"/>
              </a:rPr>
              <a:t>• LightGBM Regressor (Yield, R²=0.93)
• Random Forest (Pest Risk, Acc=91%)
• Google Gemini 1.5 Flash (Vernacular)
• HuggingFace Plant Vision Models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050" b="1" i="0">
                <a:solidFill>
                  <a:srgbClr val="A0D2FF"/>
                </a:solidFill>
                <a:latin typeface="Times New Roman"/>
              </a:rPr>
              <a:t>Database &amp; Ingestion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E6F0FF"/>
                </a:solidFill>
                <a:latin typeface="Times New Roman"/>
              </a:rPr>
              <a:t>• MongoDB Atlas (GeoJSON)
• OpenWeatherMap Telemetry
• Sentinel-2 Earth Engine
• APMC Mandi Price Feed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Dataset &amp; Experimental Setup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Multi-Source Agronomic Modalities &amp; Rigorous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3600000" cy="36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09728" rIns="109728" bIns="91440"/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DATASET SPECIFICATIONS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Modality Count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6 Heterogeneous Data Streams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Geographic Scope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Regional APMC Mandis (UP / National Scope: In Progress)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Temporal Granularity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Daily aggregated weather &amp; soil; 5-day Sentinel-2 satellite passes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Validation Strategy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Blocked Spatial K-Fold (k=5) &amp; Out-of-Season Temporal Holdout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Target Variable 1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Continuous Crop Yield (Metric Tons / Hectare) via LightGBM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Target Variable 2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Categorical Pest/Disease Severity (Low, Medium, High Risk) via RF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50000" y="1260000"/>
          <a:ext cx="7142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/>
                <a:gridCol w="1650000"/>
                <a:gridCol w="2042000"/>
                <a:gridCol w="2000000"/>
              </a:tblGrid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Modality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Data Sources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Key Parameters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Agronomic Role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1. Weather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OpenWeatherMap / IMD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Temp min/max, Humidity, Rainfall, Solar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Transpiration &amp; thermal stress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2. Soil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Soil Health Cards /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pH, Organic Carbon, Nitrogen, Phosphorus, Potassium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Nutrient baseline &amp; fertility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3. Remote Sensing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Sentinel-2 MSI Surface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NDVI, EVI, Red Edge, NIR Spectral Bands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Canopy vigor &amp; photosynthetic activity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4. Terrain &amp; Spatial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SRTM Digital Elevation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Elevation, Slope, Aspect, Farm Lat/Long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Water drainage &amp; runoff accumulation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5. Crop Metadata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Agronomic Registries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Crop species, sowing date, growth stage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Phenological calendar 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2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2850"/>
                          </a:solidFill>
                          <a:latin typeface="Times New Roman"/>
                        </a:rPr>
                        <a:t>6. Derived Agronomic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Computed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Growing Degree Days (GDD), 30-Day Rain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E2D"/>
                          </a:solidFill>
                          <a:latin typeface="Times New Roman"/>
                        </a:rPr>
                        <a:t>Biological maturity 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0000" y="5000000"/>
            <a:ext cx="10992000" cy="115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91440" rIns="109728" bIns="914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7D4B"/>
                </a:solidFill>
                <a:latin typeface="Times New Roman"/>
              </a:rPr>
              <a:t>Methodological Rigor: Zero Data Leakage Guarantee &amp; Spatial Integrity Protocol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• Blocked Spatial Partitioning: Farms located within the same geographic cluster/taluk are strictly restricted to either training or test sets—never split across both—preventing spatial autocorrelation leakage.
• Temporal Holdout Protocol: Training is restricted to historical seasons; validation strictly evaluates subsequent unobserved growing seasons, guaranteeing true forward-looking generalization under climate variability.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Implementation Progress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Development Audit: Functional Modules, In-Progress Work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5346000" cy="49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 rIns="109728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IMPLEMENTATION DASHBOARD (Status Audit)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1" i="0">
                <a:solidFill>
                  <a:srgbClr val="227D4B"/>
                </a:solidFill>
                <a:latin typeface="Times New Roman"/>
              </a:rPr>
              <a:t>COMPLETED &amp; FUNCTIONAL [Verified in Codebase]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Interactive Leaflet GIS Field Mapping Canvas &amp; Kendra Locator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Multilingual Vernacular Voice Assistant (Web Speech + Gemini)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Plant Disease Vision Scanner &amp; Bio-chemical Prescriptions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Weather Intelligence &amp; Growing Degree Day (GDD) Tracker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Zonal Officer Portal &amp; Farmer Escalation Ticket Routing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Mandi APMC Market Valuation &amp; Production Revenue Simulator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B97314"/>
                </a:solidFill>
                <a:latin typeface="Times New Roman"/>
              </a:rPr>
              <a:t>IN PROGRESS [Under Active Implementation]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Progressive Modality Ablation Protocol (quantifying satellite vs weather gains)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SHAP Feature Attribution Explainability Console for farmer-facing trust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1E5AA8"/>
                </a:solidFill>
                <a:latin typeface="Times New Roman"/>
              </a:rPr>
              <a:t>PLANNED ROADMAP [Review-3 / Final Defense]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Cooperative Ground-Truth Field Testing &amp; Extension Officer Validation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● Production Docker Containerization &amp; Cloud Hardening Deployment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00" y="1260000"/>
            <a:ext cx="5396000" cy="395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6000" y="5290000"/>
            <a:ext cx="5396000" cy="870000"/>
          </a:xfrm>
          <a:prstGeom prst="roundRect">
            <a:avLst/>
          </a:prstGeom>
          <a:solidFill>
            <a:srgbClr val="0F2850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ctr"/>
            <a:r>
              <a:rPr sz="1050" b="1">
                <a:solidFill>
                  <a:srgbClr val="D7AA32"/>
                </a:solidFill>
                <a:latin typeface="Times New Roman"/>
              </a:rPr>
              <a:t>Fig. 3: Real Working AgriSense Farm Workspace Dashboard
</a:t>
            </a:r>
            <a:r>
              <a:rPr sz="900">
                <a:solidFill>
                  <a:srgbClr val="DCEBFF"/>
                </a:solidFill>
                <a:latin typeface="Times New Roman"/>
              </a:rPr>
              <a:t>Live telemetry ingestion showing 28°C ambient temp, 65% humidity, 8.2 km/h wind, GDD tracking, and real-time field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Working Demonstration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Live Deployed System Features &amp; Field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260000"/>
            <a:ext cx="3464000" cy="25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00" y="1260000"/>
            <a:ext cx="3464000" cy="2500000"/>
          </a:xfrm>
          <a:prstGeom prst="rect">
            <a:avLst/>
          </a:prstGeom>
          <a:noFill/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000" y="3820000"/>
            <a:ext cx="3464000" cy="1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2850"/>
                </a:solidFill>
                <a:latin typeface="Times New Roman"/>
              </a:rPr>
              <a:t>Crop Disease &amp; Pest Outbreak Telemetry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4B5F78"/>
                </a:solidFill>
                <a:latin typeface="Times New Roman"/>
              </a:rPr>
              <a:t>87% Outbreak Probability — Pathogen spore &amp; micro-climate leaf wetness telemetry.
Generates targeted bio-fungicide chemical prescriptions in real time.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000" y="1260000"/>
            <a:ext cx="3464000" cy="25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64000" y="1260000"/>
            <a:ext cx="3464000" cy="2500000"/>
          </a:xfrm>
          <a:prstGeom prst="rect">
            <a:avLst/>
          </a:prstGeom>
          <a:noFill/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4000" y="3820000"/>
            <a:ext cx="3464000" cy="1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2850"/>
                </a:solidFill>
                <a:latin typeface="Times New Roman"/>
              </a:rPr>
              <a:t>Interactive Leaflet GIS &amp; Kendra Locator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4B5F78"/>
                </a:solidFill>
                <a:latin typeface="Times New Roman"/>
              </a:rPr>
              <a:t>Geospatial map with GPS farm pins (Ghaziabad/Noida).
Direct routing to Krishi Seva Kendras with bilingual Malayalam audio advisory.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0" y="1260000"/>
            <a:ext cx="3464000" cy="250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28000" y="1260000"/>
            <a:ext cx="3464000" cy="2500000"/>
          </a:xfrm>
          <a:prstGeom prst="rect">
            <a:avLst/>
          </a:prstGeom>
          <a:noFill/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8000" y="3820000"/>
            <a:ext cx="3464000" cy="1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 rIns="109728" bIns="9144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F2850"/>
                </a:solidFill>
                <a:latin typeface="Times New Roman"/>
              </a:rPr>
              <a:t>Mandi APMC Market &amp; Revenue Simulator</a:t>
            </a: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4B5F78"/>
                </a:solidFill>
                <a:latin typeface="Times New Roman"/>
              </a:rPr>
              <a:t>Expected production: 12.68 Tons (₹3.80 Lakhs valuation).
Live APMC market rate integration with crop harvest revenue simulation.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000" y="5180000"/>
            <a:ext cx="10992000" cy="92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5220000"/>
            <a:ext cx="10992000" cy="24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50" b="1" i="0">
                <a:solidFill>
                  <a:srgbClr val="D7AA32"/>
                </a:solidFill>
                <a:latin typeface="Times New Roman"/>
              </a:rPr>
              <a:t>Operational Workflow (Proven End-to-End in AgriSense Platform)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1. GIS Field Setup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0000" y="5680000"/>
            <a:ext cx="240000" cy="120000"/>
          </a:xfrm>
          <a:prstGeom prst="rightArrow">
            <a:avLst/>
          </a:prstGeom>
          <a:solidFill>
            <a:srgbClr val="D7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3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2. Telemetry Sync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00000" y="5680000"/>
            <a:ext cx="240000" cy="120000"/>
          </a:xfrm>
          <a:prstGeom prst="rightArrow">
            <a:avLst/>
          </a:prstGeom>
          <a:solidFill>
            <a:srgbClr val="D7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6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3. Dual ML Inference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30000" y="5680000"/>
            <a:ext cx="240000" cy="120000"/>
          </a:xfrm>
          <a:prstGeom prst="rightArrow">
            <a:avLst/>
          </a:prstGeom>
          <a:solidFill>
            <a:srgbClr val="D7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9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4. Vision Diagnosis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60000" y="5680000"/>
            <a:ext cx="240000" cy="120000"/>
          </a:xfrm>
          <a:prstGeom prst="rightArrow">
            <a:avLst/>
          </a:prstGeom>
          <a:solidFill>
            <a:srgbClr val="D7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2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5. Vernacular Advice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90000" y="5680000"/>
            <a:ext cx="240000" cy="120000"/>
          </a:xfrm>
          <a:prstGeom prst="rightArrow">
            <a:avLst/>
          </a:prstGeom>
          <a:solidFill>
            <a:srgbClr val="D7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50000" y="5500000"/>
            <a:ext cx="1550000" cy="4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73152" rIns="54864" bIns="91440"/>
          <a:lstStyle/>
          <a:p>
            <a:pPr algn="ctr"/>
            <a:r>
              <a:rPr sz="900" b="1" i="0">
                <a:solidFill>
                  <a:srgbClr val="0F2850"/>
                </a:solidFill>
                <a:latin typeface="Times New Roman"/>
              </a:rPr>
              <a:t>6. Officer Escalation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Preliminary Results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Empirical Benchmarking: Crop Yield Regression &amp; Pest-Risk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260000"/>
          <a:ext cx="534600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00"/>
                <a:gridCol w="750000"/>
                <a:gridCol w="750000"/>
                <a:gridCol w="750000"/>
                <a:gridCol w="1246000"/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MAE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RMSE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0F285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1.12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Competitive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XGBoost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0.89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41E2D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1E2D"/>
                          </a:solidFill>
                          <a:latin typeface="Times New Roman"/>
                        </a:rPr>
                        <a:t>LightGBM (Proposed)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1E2D"/>
                          </a:solidFill>
                          <a:latin typeface="Times New Roman"/>
                        </a:rPr>
                        <a:t>0.27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1E2D"/>
                          </a:solidFill>
                          <a:latin typeface="Times New Roman"/>
                        </a:rPr>
                        <a:t>0.38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41E2D"/>
                          </a:solidFill>
                          <a:latin typeface="Times New Roman"/>
                        </a:rPr>
                        <a:t>0.93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7D4B"/>
                          </a:solidFill>
                          <a:latin typeface="Times New Roman"/>
                        </a:rPr>
                        <a:t>Best (Proposed)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0000" y="3050000"/>
            <a:ext cx="5346000" cy="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109728" bIns="91440"/>
          <a:lstStyle/>
          <a:p>
            <a:pPr algn="ctr"/>
            <a:r>
              <a:rPr sz="1000" b="1" i="0">
                <a:solidFill>
                  <a:srgbClr val="0F2850"/>
                </a:solidFill>
                <a:latin typeface="Times New Roman"/>
              </a:rPr>
              <a:t>TABLE II: Crop Yield Regression Benchmark (AgriSense Research Paper)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3330000"/>
            <a:ext cx="5346000" cy="165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91440" rIns="109728" bIns="9144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2850"/>
                </a:solidFill>
                <a:latin typeface="Times New Roman"/>
              </a:rPr>
              <a:t>A. Crop Yield Prediction Analysis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27D4B"/>
                </a:solidFill>
                <a:latin typeface="Times New Roman"/>
              </a:rPr>
              <a:t>• Best Regressor: LightGBM achieves R² = 0.93 with lowest MAE (0.27) and RMSE (0.38).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• Gain Over XGBoost: 25.0% lower MAE and 22.4% lower RMSE through leaf-wise histogram tree growth.</a:t>
            </a:r>
          </a:p>
          <a:p>
            <a:pPr algn="l"/>
            <a:r>
              <a:rPr sz="900" b="0" i="0">
                <a:solidFill>
                  <a:srgbClr val="141E2D"/>
                </a:solidFill>
                <a:latin typeface="Times New Roman"/>
              </a:rPr>
              <a:t>• Continuous Optimization: Successfully integrates 28 continuous weather, soil, and NDVI parameters without overfitting.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260000"/>
            <a:ext cx="5346000" cy="24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46000" y="3700000"/>
            <a:ext cx="5346000" cy="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109728" bIns="91440"/>
          <a:lstStyle/>
          <a:p>
            <a:pPr algn="ctr"/>
            <a:r>
              <a:rPr sz="1000" b="1" i="0">
                <a:solidFill>
                  <a:srgbClr val="0F2850"/>
                </a:solidFill>
                <a:latin typeface="Times New Roman"/>
              </a:rPr>
              <a:t>Fig. 4: Pest-Risk Classifier Performance Comparison (IEEE Paper)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6000" y="3980000"/>
            <a:ext cx="5346000" cy="105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5AA8"/>
                </a:solidFill>
                <a:latin typeface="Times New Roman"/>
              </a:rPr>
              <a:t>B. Pest-Risk Classification Benchmark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27D4B"/>
                </a:solidFill>
                <a:latin typeface="Times New Roman"/>
              </a:rPr>
              <a:t>• [BEST] Random Forest: Accuracy = 91% | Precision = 90% | Recall = 89% | F1 = 0.89</a:t>
            </a:r>
          </a:p>
          <a:p>
            <a:pPr algn="l"/>
            <a:r>
              <a:rPr sz="900" b="0" i="0">
                <a:solidFill>
                  <a:srgbClr val="4B5F78"/>
                </a:solidFill>
                <a:latin typeface="Times New Roman"/>
              </a:rPr>
              <a:t>• XGBoost: Acc=87%, F1=0.85  |  Decision Tree: Acc=76%  |  Logistic Regression: Acc=71%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" y="5080000"/>
            <a:ext cx="10992000" cy="113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73152" rIns="109728" bIns="91440"/>
          <a:lstStyle/>
          <a:p>
            <a:pPr algn="ctr"/>
            <a:r>
              <a:rPr sz="1150" b="1">
                <a:solidFill>
                  <a:srgbClr val="227D4B"/>
                </a:solidFill>
                <a:latin typeface="Times New Roman"/>
              </a:rPr>
              <a:t>Key Findings &amp; Architectural Conclusions:
</a:t>
            </a:r>
            <a:r>
              <a:rPr sz="950">
                <a:solidFill>
                  <a:srgbClr val="141E2D"/>
                </a:solidFill>
                <a:latin typeface="Times New Roman"/>
              </a:rPr>
              <a:t>1. Crop Yield: LightGBM delivers the strongest yield prediction (R²=0.93, MAE=0.27) due to gradient-based leaf-wise splitting on continuous features.
2. Pest Risk: Random Forest achieves superior pest-risk classification (Accuracy=91%, F1=0.89) through ensemble bagging resilience against noisy field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Research Paper Submission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IEEE Manuscript Status, Metadata &amp; Core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6500000" cy="49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 rIns="109728" bIns="91440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RESEARCH PAPER MANUSCRIPT STATUS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Manuscript Title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AgriSense: A Multimodal Data Fusion Framework for Precision Crop-Yield and Pest-Risk Intelligence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Authors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Harish Kumar, Devesh Singh, Divyanshu Kumar Rai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Faculty Supervisor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Prof. Ayush Agarwal (Assistant Professor, Dept. of Information Technology)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Target Venue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IEEE International Conference / Indexed Journal (Scopus / SCI)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Current Status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Manuscript Completed &amp; Formatted in IEEE 2-Column Template; Submission in Progress / Review Pending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1E5AA8"/>
                </a:solidFill>
                <a:latin typeface="Times New Roman"/>
              </a:rPr>
              <a:t>Submission ID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41E2D"/>
                </a:solidFill>
                <a:latin typeface="Times New Roman"/>
              </a:rPr>
              <a:t>TBD (Under Final Departmental Review &amp; Institutional Clearance)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1" i="0">
                <a:solidFill>
                  <a:srgbClr val="0F2850"/>
                </a:solidFill>
                <a:latin typeface="Times New Roman"/>
              </a:rPr>
              <a:t>Core Academic &amp; Technical Contributions: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1. Novel multimodal fusion combining weather, soil, remote sensing (NDVI), and GDD metrics.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2. Dual-model architecture addressing crop yield regression and pest classification concurrently.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3. Zero-leakage evaluation protocol using Blocked Spatial K-Fold and Temporal Season Holdout.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41E2D"/>
                </a:solidFill>
                <a:latin typeface="Times New Roman"/>
              </a:rPr>
              <a:t>4. Practical deployment linking ML inference directly to farmer GIS &amp; multilingual advisory.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000" y="1260000"/>
            <a:ext cx="4242000" cy="45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50000" y="5820000"/>
            <a:ext cx="4242000" cy="360000"/>
          </a:xfrm>
          <a:prstGeom prst="roundRect">
            <a:avLst/>
          </a:prstGeom>
          <a:solidFill>
            <a:srgbClr val="0F2850"/>
          </a:solidFill>
          <a:ln w="127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rIns="109728" bIns="91440"/>
          <a:lstStyle/>
          <a:p>
            <a:pPr algn="ctr"/>
            <a:r>
              <a:rPr sz="950" b="1" i="0">
                <a:solidFill>
                  <a:srgbClr val="D7AA32"/>
                </a:solidFill>
                <a:latin typeface="Times New Roman"/>
              </a:rPr>
              <a:t>Fig. 5: IEEE Format 2-Column Manuscript Preview (Page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Remaining Work &amp; Roadmap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Phased Progression: From Current Review-2 to Final 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10992000" cy="860000"/>
          </a:xfrm>
          <a:prstGeom prst="roundRect">
            <a:avLst/>
          </a:prstGeom>
          <a:solidFill>
            <a:srgbClr val="FFFBE6"/>
          </a:solidFill>
          <a:ln w="19050">
            <a:solidFill>
              <a:srgbClr val="B9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B97314"/>
                </a:solidFill>
                <a:latin typeface="Times New Roman"/>
              </a:rPr>
              <a:t>01  </a:t>
            </a:r>
            <a:r>
              <a:rPr sz="1250" b="1">
                <a:solidFill>
                  <a:srgbClr val="0F2850"/>
                </a:solidFill>
                <a:latin typeface="Times New Roman"/>
              </a:rPr>
              <a:t>FINAL DATASET LOCKING &amp; MULTI-DISTRICT SCALING   </a:t>
            </a:r>
            <a:r>
              <a:rPr sz="1000" b="1">
                <a:solidFill>
                  <a:srgbClr val="B97314"/>
                </a:solidFill>
                <a:latin typeface="Times New Roman"/>
              </a:rPr>
              <a:t>[CURRENT FOCUS • IN PROGRESS]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141E2D"/>
                </a:solidFill>
                <a:latin typeface="Times New Roman"/>
              </a:rPr>
              <a:t>Complete regional dataset collection across additional Uttar Pradesh district APMC mandis. Incorporate historical multi-year crop yield data, expanding geographical coverage beyond baseline study regions.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2230000"/>
            <a:ext cx="10992000" cy="860000"/>
          </a:xfrm>
          <a:prstGeom prst="roundRect">
            <a:avLst/>
          </a:prstGeom>
          <a:solidFill>
            <a:srgbClr val="FFFBE6"/>
          </a:solidFill>
          <a:ln w="19050">
            <a:solidFill>
              <a:srgbClr val="B9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B97314"/>
                </a:solidFill>
                <a:latin typeface="Times New Roman"/>
              </a:rPr>
              <a:t>02  </a:t>
            </a:r>
            <a:r>
              <a:rPr sz="1250" b="1">
                <a:solidFill>
                  <a:srgbClr val="0F2850"/>
                </a:solidFill>
                <a:latin typeface="Times New Roman"/>
              </a:rPr>
              <a:t>PROGRESSIVE MULTIMODAL ABLATION PROTOCOL   </a:t>
            </a:r>
            <a:r>
              <a:rPr sz="1000" b="1">
                <a:solidFill>
                  <a:srgbClr val="B97314"/>
                </a:solidFill>
                <a:latin typeface="Times New Roman"/>
              </a:rPr>
              <a:t>[METHODOLOGICAL RIGOR • IN PROGRESS]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141E2D"/>
                </a:solidFill>
                <a:latin typeface="Times New Roman"/>
              </a:rPr>
              <a:t>Execute systematic leave-one-modality-out ablation experiments (quantifying yield R² impact when removing NDVI, GDD, or soil features individually) to formally report in the finalized research paper.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3200000"/>
            <a:ext cx="10992000" cy="860000"/>
          </a:xfrm>
          <a:prstGeom prst="roundRect">
            <a:avLst/>
          </a:prstGeom>
          <a:solidFill>
            <a:srgbClr val="FFFBE6"/>
          </a:solidFill>
          <a:ln w="19050">
            <a:solidFill>
              <a:srgbClr val="B9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B97314"/>
                </a:solidFill>
                <a:latin typeface="Times New Roman"/>
              </a:rPr>
              <a:t>03  </a:t>
            </a:r>
            <a:r>
              <a:rPr sz="1250" b="1">
                <a:solidFill>
                  <a:srgbClr val="0F2850"/>
                </a:solidFill>
                <a:latin typeface="Times New Roman"/>
              </a:rPr>
              <a:t>SHAP EXPLAINABILITY INTEGRATION IN WEB UI   </a:t>
            </a:r>
            <a:r>
              <a:rPr sz="1000" b="1">
                <a:solidFill>
                  <a:srgbClr val="B97314"/>
                </a:solidFill>
                <a:latin typeface="Times New Roman"/>
              </a:rPr>
              <a:t>[INTERPRETABILITY • IN PROGRESS]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141E2D"/>
                </a:solidFill>
                <a:latin typeface="Times New Roman"/>
              </a:rPr>
              <a:t>Integrate TreeSHAP feature attribution console directly into the farmer and zonal officer dashboard, providing clear, transparent visualizations of which weather/soil factors drove yield and pest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4170000"/>
            <a:ext cx="10992000" cy="860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E5AA8"/>
                </a:solidFill>
                <a:latin typeface="Times New Roman"/>
              </a:rPr>
              <a:t>04  </a:t>
            </a:r>
            <a:r>
              <a:rPr sz="1250" b="1">
                <a:solidFill>
                  <a:srgbClr val="0F2850"/>
                </a:solidFill>
                <a:latin typeface="Times New Roman"/>
              </a:rPr>
              <a:t>COOPERATIVE GROUND-TRUTH FIELD TESTING   </a:t>
            </a:r>
            <a:r>
              <a:rPr sz="1000" b="1">
                <a:solidFill>
                  <a:srgbClr val="1E5AA8"/>
                </a:solidFill>
                <a:latin typeface="Times New Roman"/>
              </a:rPr>
              <a:t>[FIELD VALIDATION • PLANNED]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141E2D"/>
                </a:solidFill>
                <a:latin typeface="Times New Roman"/>
              </a:rPr>
              <a:t>Conduct pilot deployment trials with local agricultural extension officers and Krishi Seva Kendra coordinators to validate model advisory efficacy, farmer usability, and voice assistant accuracy in real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5140000"/>
            <a:ext cx="10992000" cy="860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2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73152" rIns="109728" bIns="9144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27D4B"/>
                </a:solidFill>
                <a:latin typeface="Times New Roman"/>
              </a:rPr>
              <a:t>05  </a:t>
            </a:r>
            <a:r>
              <a:rPr sz="1250" b="1">
                <a:solidFill>
                  <a:srgbClr val="0F2850"/>
                </a:solidFill>
                <a:latin typeface="Times New Roman"/>
              </a:rPr>
              <a:t>PRODUCTION DEPLOYMENT &amp; FINAL PROJECT DEFENSE   </a:t>
            </a:r>
            <a:r>
              <a:rPr sz="1000" b="1">
                <a:solidFill>
                  <a:srgbClr val="227D4B"/>
                </a:solidFill>
                <a:latin typeface="Times New Roman"/>
              </a:rPr>
              <a:t>[PRODUCTION RELEASE • PLANNED]</a:t>
            </a:r>
          </a:p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141E2D"/>
                </a:solidFill>
                <a:latin typeface="Times New Roman"/>
              </a:rPr>
              <a:t>Finalize Docker microservices containerization, complete API security audits, deploy to scalable cloud infrastructure, and prepare comprehensive documentation for the Final B.Tech Project Defense.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Challenges &amp; Solutions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Technical Hurdles Encountered &amp; Implemented Architectural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260000"/>
            <a:ext cx="100000" cy="1140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000" y="1260000"/>
            <a:ext cx="10852000" cy="11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1. Multimodal Data Heterogeneity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7314"/>
                </a:solidFill>
                <a:latin typeface="Times New Roman"/>
              </a:rPr>
              <a:t>• Challenge &amp; Impact: </a:t>
            </a:r>
            <a:r>
              <a:rPr sz="950">
                <a:solidFill>
                  <a:srgbClr val="141E2D"/>
                </a:solidFill>
                <a:latin typeface="Times New Roman"/>
              </a:rPr>
              <a:t>Hourly weather, static soil surveys, and 5-day Sentinel-2 satellite passes exhibit massive frequency and spatial resolution mismatch.  </a:t>
            </a:r>
            <a:r>
              <a:rPr sz="950">
                <a:solidFill>
                  <a:srgbClr val="4B5F78"/>
                </a:solidFill>
                <a:latin typeface="Times New Roman"/>
              </a:rPr>
              <a:t>High risk of dimensional distortion, temporal lag errors, and misaligned feature vectors degrading predictive gradient boosts.</a:t>
            </a:r>
          </a:p>
          <a:p>
            <a:r>
              <a:rPr sz="1000" b="1">
                <a:solidFill>
                  <a:srgbClr val="227D4B"/>
                </a:solidFill>
                <a:latin typeface="Times New Roman"/>
              </a:rPr>
              <a:t>• Implemented Solution: </a:t>
            </a:r>
            <a:r>
              <a:rPr sz="950">
                <a:solidFill>
                  <a:srgbClr val="141E2D"/>
                </a:solidFill>
                <a:latin typeface="Times New Roman"/>
              </a:rPr>
              <a:t>Implemented daily temporal resampling with Savitzky-Golay filtering for cloud-occluded NDVI, coupled with nearest-neighbor geospatial interpolation into unified coordinate feature vectors.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2510000"/>
            <a:ext cx="100000" cy="1140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000" y="2510000"/>
            <a:ext cx="10852000" cy="11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2. Spatial &amp; Temporal Leakage Risk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7314"/>
                </a:solidFill>
                <a:latin typeface="Times New Roman"/>
              </a:rPr>
              <a:t>• Challenge &amp; Impact: </a:t>
            </a:r>
            <a:r>
              <a:rPr sz="950">
                <a:solidFill>
                  <a:srgbClr val="141E2D"/>
                </a:solidFill>
                <a:latin typeface="Times New Roman"/>
              </a:rPr>
              <a:t>Standard random train-test splitting leaks spatial autocorrelation and future climate patterns across adjacent farms.  </a:t>
            </a:r>
            <a:r>
              <a:rPr sz="950">
                <a:solidFill>
                  <a:srgbClr val="4B5F78"/>
                </a:solidFill>
                <a:latin typeface="Times New Roman"/>
              </a:rPr>
              <a:t>Artificially inflated benchmark metrics (R² &gt; 0.98) that fail completely when deployed on unobserved fields or subsequent seasons.</a:t>
            </a:r>
          </a:p>
          <a:p>
            <a:r>
              <a:rPr sz="1000" b="1">
                <a:solidFill>
                  <a:srgbClr val="227D4B"/>
                </a:solidFill>
                <a:latin typeface="Times New Roman"/>
              </a:rPr>
              <a:t>• Implemented Solution: </a:t>
            </a:r>
            <a:r>
              <a:rPr sz="950">
                <a:solidFill>
                  <a:srgbClr val="141E2D"/>
                </a:solidFill>
                <a:latin typeface="Times New Roman"/>
              </a:rPr>
              <a:t>Designed strict Blocked Spatial K-Fold cross-validation (grouping farms by taluk/district) and out-of-season temporal holdout partitions to ensure genuine generalization.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3760000"/>
            <a:ext cx="100000" cy="1140000"/>
          </a:xfrm>
          <a:prstGeom prst="rect">
            <a:avLst/>
          </a:prstGeom>
          <a:solidFill>
            <a:srgbClr val="22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000" y="3760000"/>
            <a:ext cx="10852000" cy="11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3. Regional Language AI Accuracy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7314"/>
                </a:solidFill>
                <a:latin typeface="Times New Roman"/>
              </a:rPr>
              <a:t>• Challenge &amp; Impact: </a:t>
            </a:r>
            <a:r>
              <a:rPr sz="950">
                <a:solidFill>
                  <a:srgbClr val="141E2D"/>
                </a:solidFill>
                <a:latin typeface="Times New Roman"/>
              </a:rPr>
              <a:t>Generic LLMs hallucinate inaccurate chemical treatments and fail on vernacular regional agricultural terminology (Hindi/Malayalam).  </a:t>
            </a:r>
            <a:r>
              <a:rPr sz="950">
                <a:solidFill>
                  <a:srgbClr val="4B5F78"/>
                </a:solidFill>
                <a:latin typeface="Times New Roman"/>
              </a:rPr>
              <a:t>Farmers receive confusing, non-actionable, or potentially harmful crop advice in vernacular voice modes.</a:t>
            </a:r>
          </a:p>
          <a:p>
            <a:r>
              <a:rPr sz="1000" b="1">
                <a:solidFill>
                  <a:srgbClr val="227D4B"/>
                </a:solidFill>
                <a:latin typeface="Times New Roman"/>
              </a:rPr>
              <a:t>• Implemented Solution: </a:t>
            </a:r>
            <a:r>
              <a:rPr sz="950">
                <a:solidFill>
                  <a:srgbClr val="141E2D"/>
                </a:solidFill>
                <a:latin typeface="Times New Roman"/>
              </a:rPr>
              <a:t>Engineered constrained domain-specific prompt templates with Google Gemini AI, anchored to an expert agronomic dictionary, verified chemical safety thresholds, and audio Web Speech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" y="5010000"/>
            <a:ext cx="100000" cy="1140000"/>
          </a:xfrm>
          <a:prstGeom prst="rect">
            <a:avLst/>
          </a:prstGeom>
          <a:solidFill>
            <a:srgbClr val="B9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000" y="5010000"/>
            <a:ext cx="10852000" cy="11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73152" rIns="109728" bIns="9144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2850"/>
                </a:solidFill>
                <a:latin typeface="Times New Roman"/>
              </a:rPr>
              <a:t>4. Real-Time API Quotas &amp; Latency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97314"/>
                </a:solidFill>
                <a:latin typeface="Times New Roman"/>
              </a:rPr>
              <a:t>• Challenge &amp; Impact: </a:t>
            </a:r>
            <a:r>
              <a:rPr sz="950">
                <a:solidFill>
                  <a:srgbClr val="141E2D"/>
                </a:solidFill>
                <a:latin typeface="Times New Roman"/>
              </a:rPr>
              <a:t>Repeated satellite band extractions and live weather API requests incur rate limits (429 errors) and multi-second UI latency.  </a:t>
            </a:r>
            <a:r>
              <a:rPr sz="950">
                <a:solidFill>
                  <a:srgbClr val="4B5F78"/>
                </a:solidFill>
                <a:latin typeface="Times New Roman"/>
              </a:rPr>
              <a:t>Sluggish farmer dashboard performance (&gt;5s loading) and risk of operational service disruption during peak advisory usage.</a:t>
            </a:r>
          </a:p>
          <a:p>
            <a:r>
              <a:rPr sz="1000" b="1">
                <a:solidFill>
                  <a:srgbClr val="227D4B"/>
                </a:solidFill>
                <a:latin typeface="Times New Roman"/>
              </a:rPr>
              <a:t>• Implemented Solution: </a:t>
            </a:r>
            <a:r>
              <a:rPr sz="950">
                <a:solidFill>
                  <a:srgbClr val="141E2D"/>
                </a:solidFill>
                <a:latin typeface="Times New Roman"/>
              </a:rPr>
              <a:t>Architected an in-memory caching layer with 6-hour TTL for satellite indices and weather telemetry, background asynchronous polling, and client-side GeoJSON vector tile rendering.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44e0a7-09f5-40e6-ae05-3850644466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766715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000" y="180000"/>
            <a:ext cx="9392000" cy="8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800" b="1">
                <a:solidFill>
                  <a:srgbClr val="0F2850"/>
                </a:solidFill>
                <a:latin typeface="Times New Roman"/>
              </a:rPr>
              <a:t>References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4B5F78"/>
                </a:solidFill>
                <a:latin typeface="Times New Roman"/>
              </a:rPr>
              <a:t>13 Peer-Reviewed IEEE &amp; Agronomic Journal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Times New Roman"/>
              </a:defRPr>
            </a:pPr>
            <a:r>
              <a:rPr sz="1000">
                <a:solidFill>
                  <a:srgbClr val="4B5F78"/>
                </a:solidFill>
                <a:latin typeface="Times New Roman"/>
              </a:rPr>
              <a:t>Department of Information Technology | Review-2 | ABES Engineering College | Slide 14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0000" y="1160000"/>
            <a:ext cx="10992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00" y="1260000"/>
            <a:ext cx="5346000" cy="49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37160" bIns="91440"/>
          <a:lstStyle/>
          <a:p>
            <a:pPr algn="ctr"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[1]  T. van Klompenburg, A. Kassahun, and C. Catal, “Crop yield prediction using machine learning: A systematic literature review,” Computers and Electronics in Agriculture, vol. 177, p. 105709, 2020.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[2]  A. K. Gupta, K. A. Sarkar, D. S. Dhakre, and D. Bhattacharya, “Weather based crop yield prediction using artificial neural networks: A comparative study with other approaches,” MAUSAM, vol. 74, no. 3, pp. 825–832, 2023.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[3]  D. K. Pathak, M. Miranda, F. Mena, et al., “Predicting crop yield with machine learning: An extensive analysis of input modalities and models on a field and sub-field level,” in Proc. IEEE Int. Geosci. Remote Sens. Symp. (IGARSS), 2023.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[4]  T. Domingues, T. Brandão, and J. C. Ferreira, “Machine learning for detection and prediction of crop diseases and pests: A comprehensive survey,” Agriculture, vol. 12, no. 9, p. 1350, 2022.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[5]  G. R. Babu, M. Gokuldhev, and P. S. Brahmanandam, “Integrating IoT for soil monitoring and hybrid machine learning in predicting tomato crop disease in a typical south India station,” Sensors, vol. 24, p. 6177, 2024.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[6]  J. G., E. Castelino, P. Mahadevu, et al., “Smart solutions for maize farmers: Machine learning-enabled web applications for downy mildew management and enhanced crop yield in India,” European Journal of Agronomy, vol. 164, p. 127441, 2025.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[7]  I. Keramitsoglou, P. Sismanidis, O. Sykioti, et al., “Sense-GDD: A satellite-derived temperature monitoring service to provide growing degree days,” Agriculture, vol. 13, no. 5, p. 1108, 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6000" y="1260000"/>
            <a:ext cx="5346000" cy="492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28016" rIns="137160" bIns="91440"/>
          <a:lstStyle/>
          <a:p>
            <a:pPr algn="ctr"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[8]  C. Karydas, M. Chatziantoniou, K. Stamkopoulos, et al., “Embedding a precision agriculture service into a farm management information system—iFarma/PREFER,” Smart Agricultural Technology, vol. 4, p. 100175, 2023.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[9]  E. Gallinucci, M. Golfarelli, and S. Rizzi, “Mo.Re.Farming: A hybrid architecture for tactical and strategic precision agriculture,” Data &amp; Knowledge Engineering, vol. 129, p. 101836, 2020.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[10] J. W. Rouse, R. H. Haas, J. A. Schell, and D. W. Deering, “Monitoring vegetation systems in the great plains with ERTS,” NASA Special Publication, vol. 351, pp. 309–317, 1974.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[11] G. Ke, Q. Meng, T. Finley, T. Wang, W. Chen, W. Ma, Q. Ye, and T.-Y. Liu, “LightGBM: A highly efficient gradient boosting decision tree,” in Advances in Neural Information Processing Systems (NeurIPS), vol. 30, pp. 3146–3154, 2017.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[12] L. Breiman, “Random forests,” Machine Learning, vol. 45, no. 1, pp. 5–32, 2001.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950">
                <a:solidFill>
                  <a:srgbClr val="141E2D"/>
                </a:solidFill>
                <a:latin typeface="Times New Roman"/>
              </a:rPr>
              <a:t>[13] T. Chen and C. Guestrin, “XGBoost: A scalable tree boosting system,” in Proc. 22nd ACM SIGKDD Int. Conf. on Knowledge Discovery and Data Mining, pp. 785–794, 2016.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300000"/>
            <a:ext cx="1150000" cy="144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0000" y="340000"/>
            <a:ext cx="9642000" cy="1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F2850"/>
                </a:solidFill>
                <a:latin typeface="Times New Roman"/>
              </a:rPr>
              <a:t>ABES ENGINEERING COLLEGE, GHAZIABAD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5AA8"/>
                </a:solidFill>
                <a:latin typeface="Times New Roman"/>
              </a:rPr>
              <a:t>Department of Information Technology</a:t>
            </a:r>
          </a:p>
          <a:p>
            <a:pPr algn="l"/>
            <a:r>
              <a:rPr sz="1200" b="0" i="0">
                <a:solidFill>
                  <a:srgbClr val="4B5F78"/>
                </a:solidFill>
                <a:latin typeface="Times New Roman"/>
              </a:rPr>
              <a:t>Bachelor of Technology  |  Major Project Review-2  |  Academic Session 2026–27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920000"/>
            <a:ext cx="10992000" cy="30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000" y="2080000"/>
            <a:ext cx="10992000" cy="2350000"/>
          </a:xfrm>
          <a:prstGeom prst="roundRect">
            <a:avLst/>
          </a:prstGeom>
          <a:solidFill>
            <a:srgbClr val="0F2850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2180000"/>
            <a:ext cx="10992000" cy="7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980000"/>
            <a:ext cx="10992000" cy="42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2400" b="1" i="0">
                <a:solidFill>
                  <a:srgbClr val="A0D2FA"/>
                </a:solidFill>
                <a:latin typeface="Times New Roman"/>
              </a:rPr>
              <a:t>AGRISENSE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440000"/>
            <a:ext cx="10992000" cy="3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500" b="0" i="0">
                <a:solidFill>
                  <a:srgbClr val="D7E6FA"/>
                </a:solidFill>
                <a:latin typeface="Times New Roman"/>
              </a:rPr>
              <a:t>Precision Agriculture Crop Yield &amp; Pest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880000"/>
            <a:ext cx="10992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300" b="1" i="0">
                <a:solidFill>
                  <a:srgbClr val="D7AA32"/>
                </a:solidFill>
                <a:latin typeface="Times New Roman"/>
              </a:rPr>
              <a:t>•   QUESTIONS &amp; DISCUSSION 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4580000"/>
            <a:ext cx="10992000" cy="165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28016" rIns="109728" bIns="9144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E5AA8"/>
                </a:solidFill>
                <a:latin typeface="Times New Roman"/>
              </a:rPr>
              <a:t>PROJECT PRESENTATION • REVIEW-2 EVALUATION</a:t>
            </a:r>
          </a:p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F2850"/>
                </a:solidFill>
                <a:latin typeface="Times New Roman"/>
              </a:rPr>
              <a:t>Harish Kumar (2300320310086)   •   Devesh Singh (2300320130088)   •   Divyanshu Kumar Rai (2300320130100)</a:t>
            </a:r>
          </a:p>
          <a:p>
            <a:pPr algn="ctr">
              <a:spcAft>
                <a:spcPts val="200"/>
              </a:spcAft>
            </a:pPr>
            <a:r>
              <a:rPr sz="1200">
                <a:solidFill>
                  <a:srgbClr val="141E2D"/>
                </a:solidFill>
                <a:latin typeface="Times New Roman"/>
              </a:rPr>
              <a:t>Project Supervisor: Prof. Ayush Agarwal (Assistant Professor, Department of Information Technology)</a:t>
            </a:r>
          </a:p>
          <a:p>
            <a:pPr algn="ctr"/>
            <a:r>
              <a:rPr sz="1100">
                <a:solidFill>
                  <a:srgbClr val="4B5F78"/>
                </a:solidFill>
                <a:latin typeface="Times New Roman"/>
              </a:rPr>
              <a:t>ABES Engineering College, Ghaziabad, Uttar Pradesh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000"/>
            <a:ext cx="12192000" cy="4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 rIns="109728" bIns="91440"/>
          <a:lstStyle/>
          <a:p>
            <a:pPr algn="ctr"/>
            <a:r>
              <a:rPr sz="1100" b="0" i="0">
                <a:solidFill>
                  <a:srgbClr val="B4D7FA"/>
                </a:solidFill>
                <a:latin typeface="Times New Roman"/>
              </a:rPr>
              <a:t>Department of Information Technology  |  Review-2  |  ABES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3858</Words>
  <Application>Microsoft Office PowerPoint</Application>
  <PresentationFormat>Widescreen</PresentationFormat>
  <Paragraphs>325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on &lt;Title of the Project&gt; SESSION 2026-27 BCS 753</dc:title>
  <dc:subject/>
  <dc:creator>Devesh</dc:creator>
  <cp:keywords/>
  <dc:description>generated using python-pptx</dc:description>
  <cp:lastModifiedBy>Devesh Singh</cp:lastModifiedBy>
  <cp:revision>5</cp:revision>
  <cp:lastPrinted>2026-07-24T04:31:12Z</cp:lastPrinted>
  <dcterms:created xsi:type="dcterms:W3CDTF">2013-01-27T09:14:16Z</dcterms:created>
  <dcterms:modified xsi:type="dcterms:W3CDTF">2026-09-09T18:57:35Z</dcterms:modified>
  <cp:category/>
</cp:coreProperties>
</file>